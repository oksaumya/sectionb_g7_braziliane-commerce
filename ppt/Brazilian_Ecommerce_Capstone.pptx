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16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ublic.tableau.com/app/profile/saman.iqbal5804/viz/BrazillianEDA/SalesOverview?publish=yes&amp;showOnboarding=true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" y="269278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5760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6FB5"/>
                </a:solidFill>
                <a:latin typeface="Calibri"/>
              </a:rPr>
              <a:t>NEWTON SCHOOL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0584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E8F0F8"/>
                </a:solidFill>
                <a:latin typeface="Calibri"/>
              </a:rPr>
              <a:t>Data Visualization &amp; Analytics </a:t>
            </a:r>
            <a:r>
              <a:rPr lang="en-US" sz="1300" b="0" dirty="0">
                <a:solidFill>
                  <a:srgbClr val="E8F0F8"/>
                </a:solidFill>
                <a:latin typeface="Calibri"/>
              </a:rPr>
              <a:t>:</a:t>
            </a:r>
            <a:r>
              <a:rPr sz="1300" b="0" dirty="0">
                <a:solidFill>
                  <a:srgbClr val="E8F0F8"/>
                </a:solidFill>
                <a:latin typeface="Calibri"/>
              </a:rPr>
              <a:t>  Capstone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5156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Brazilian E-Commerce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>
                <a:solidFill>
                  <a:srgbClr val="E8F0F8"/>
                </a:solidFill>
                <a:latin typeface="Calibri"/>
              </a:rPr>
              <a:t>Order Fulfilment, Delivery Performance &amp; Customer Satisfaction (2016–2018)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10332720" cy="36576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Sector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023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E-Commerce / Retail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15968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315968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Section B  •  Group G-7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08576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Faculty Mentor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608576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Satyaki 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01184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901184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Olist Brazilian E-Commerce (Kaggle, 2016–2018)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515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F6FB5"/>
                </a:solidFill>
                <a:latin typeface="Calibri"/>
              </a:rPr>
              <a:t>Team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Saumya Kumar  •  Saman Iqbal Ansari  •  Arina Ali  •  Yash Kumar  •  Ayush Sahu  •  Prakhar Srivastava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515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dirty="0">
                <a:solidFill>
                  <a:srgbClr val="E8F0F8"/>
                </a:solidFill>
                <a:latin typeface="Calibri"/>
              </a:rPr>
              <a:t>GitHub:  </a:t>
            </a:r>
            <a:r>
              <a:rPr sz="1100" b="0" dirty="0" err="1">
                <a:solidFill>
                  <a:srgbClr val="E8F0F8"/>
                </a:solidFill>
                <a:latin typeface="Calibri"/>
              </a:rPr>
              <a:t>github.com</a:t>
            </a:r>
            <a:r>
              <a:rPr sz="1100" b="0" dirty="0">
                <a:solidFill>
                  <a:srgbClr val="E8F0F8"/>
                </a:solidFill>
                <a:latin typeface="Calibri"/>
              </a:rPr>
              <a:t>/</a:t>
            </a:r>
            <a:r>
              <a:rPr sz="1100" b="0" dirty="0" err="1">
                <a:solidFill>
                  <a:srgbClr val="E8F0F8"/>
                </a:solidFill>
                <a:latin typeface="Calibri"/>
              </a:rPr>
              <a:t>oksaumya</a:t>
            </a:r>
            <a:r>
              <a:rPr sz="1100" b="0" dirty="0">
                <a:solidFill>
                  <a:srgbClr val="E8F0F8"/>
                </a:solidFill>
                <a:latin typeface="Calibri"/>
              </a:rPr>
              <a:t>/SectionB_G7_BrazilianE-Commerce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82512"/>
            <a:ext cx="105156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100" b="0" dirty="0">
                <a:solidFill>
                  <a:srgbClr val="E8F0F8"/>
                </a:solidFill>
                <a:latin typeface="Calibri"/>
              </a:rPr>
              <a:t>Tableau Public:  </a:t>
            </a:r>
            <a:r>
              <a:rPr lang="en-IN" sz="1100" dirty="0">
                <a:solidFill>
                  <a:srgbClr val="E8F0F8"/>
                </a:solidFill>
              </a:rPr>
              <a:t>https://</a:t>
            </a:r>
            <a:r>
              <a:rPr lang="en-IN" sz="1100" dirty="0" err="1">
                <a:solidFill>
                  <a:srgbClr val="E8F0F8"/>
                </a:solidFill>
              </a:rPr>
              <a:t>public.tableau.com</a:t>
            </a:r>
            <a:r>
              <a:rPr lang="en-IN" sz="1100" dirty="0">
                <a:solidFill>
                  <a:srgbClr val="E8F0F8"/>
                </a:solidFill>
              </a:rPr>
              <a:t>/app/profile/saman.iqbal5804/viz/</a:t>
            </a:r>
            <a:r>
              <a:rPr lang="en-IN" sz="1100" dirty="0" err="1">
                <a:solidFill>
                  <a:srgbClr val="E8F0F8"/>
                </a:solidFill>
              </a:rPr>
              <a:t>BrazillianEDA</a:t>
            </a:r>
            <a:r>
              <a:rPr lang="en-IN" sz="1100" dirty="0">
                <a:solidFill>
                  <a:srgbClr val="E8F0F8"/>
                </a:solidFill>
              </a:rPr>
              <a:t>/</a:t>
            </a:r>
            <a:r>
              <a:rPr lang="en-IN" sz="1100" dirty="0" err="1">
                <a:solidFill>
                  <a:srgbClr val="E8F0F8"/>
                </a:solidFill>
              </a:rPr>
              <a:t>SalesOverview?publish</a:t>
            </a:r>
            <a:r>
              <a:rPr lang="en-IN" sz="1100" dirty="0">
                <a:solidFill>
                  <a:srgbClr val="E8F0F8"/>
                </a:solidFill>
              </a:rPr>
              <a:t>=</a:t>
            </a:r>
            <a:r>
              <a:rPr lang="en-IN" sz="1100" dirty="0" err="1">
                <a:solidFill>
                  <a:srgbClr val="E8F0F8"/>
                </a:solidFill>
              </a:rPr>
              <a:t>yes&amp;showOnboarding</a:t>
            </a:r>
            <a:r>
              <a:rPr lang="en-IN" sz="1100" dirty="0">
                <a:solidFill>
                  <a:srgbClr val="E8F0F8"/>
                </a:solidFill>
              </a:rPr>
              <a:t>=true</a:t>
            </a:r>
            <a:endParaRPr sz="1100" b="0" dirty="0">
              <a:solidFill>
                <a:srgbClr val="E8F0F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Context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E8F0F8"/>
                </a:solidFill>
                <a:latin typeface="Calibri"/>
              </a:rPr>
              <a:t>Why this matters</a:t>
            </a:r>
            <a:r>
              <a:rPr lang="en-IN" sz="1300" b="0" dirty="0">
                <a:solidFill>
                  <a:srgbClr val="E8F0F8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E8F0F8"/>
                </a:solidFill>
                <a:latin typeface="Calibri"/>
              </a:rPr>
              <a:t>and what decision the analysis supp</a:t>
            </a:r>
            <a:r>
              <a:rPr lang="en-IN" sz="1300" b="0" dirty="0">
                <a:solidFill>
                  <a:srgbClr val="E8F0F8"/>
                </a:solidFill>
                <a:latin typeface="Calibri"/>
              </a:rPr>
              <a:t>o</a:t>
            </a:r>
            <a:r>
              <a:rPr sz="1300" b="0" dirty="0" err="1">
                <a:solidFill>
                  <a:srgbClr val="E8F0F8"/>
                </a:solidFill>
                <a:latin typeface="Calibri"/>
              </a:rPr>
              <a:t>rts</a:t>
            </a:r>
            <a:endParaRPr sz="1300" b="0" dirty="0">
              <a:solidFill>
                <a:srgbClr val="E8F0F8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22860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SECTOR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212080" cy="8371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1A1A1A"/>
                </a:solidFill>
                <a:latin typeface="Calibri"/>
              </a:rPr>
              <a:t>Brazilian e-commerce is growing fast on the back of smartphone penetration and expanding logistics  but the country's geography and multi-vendor model create wide variance in delivery quality. </a:t>
            </a:r>
            <a:r>
              <a:rPr sz="1300" b="0" dirty="0" err="1">
                <a:solidFill>
                  <a:srgbClr val="1A1A1A"/>
                </a:solidFill>
                <a:latin typeface="Calibri"/>
              </a:rPr>
              <a:t>Olist</a:t>
            </a:r>
            <a:r>
              <a:rPr sz="1300" b="0" dirty="0">
                <a:solidFill>
                  <a:srgbClr val="1A1A1A"/>
                </a:solidFill>
                <a:latin typeface="Calibri"/>
              </a:rPr>
              <a:t>, Brazil's largest marketplace, sits at the </a:t>
            </a:r>
            <a:r>
              <a:rPr sz="1300" b="0" dirty="0" err="1">
                <a:solidFill>
                  <a:srgbClr val="1A1A1A"/>
                </a:solidFill>
                <a:latin typeface="Calibri"/>
              </a:rPr>
              <a:t>centre</a:t>
            </a:r>
            <a:r>
              <a:rPr sz="1300" b="0" dirty="0">
                <a:solidFill>
                  <a:srgbClr val="1A1A1A"/>
                </a:solidFill>
                <a:latin typeface="Calibri"/>
              </a:rPr>
              <a:t> of this tension between scale and reliability.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22860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DECISION-MAKER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212080" cy="8371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1A1A1A"/>
                </a:solidFill>
                <a:latin typeface="Calibri"/>
              </a:rPr>
              <a:t>COO and Head of Seller Management of a large Brazilian online marketplace. They need to </a:t>
            </a:r>
            <a:r>
              <a:rPr sz="1300" b="0" dirty="0" err="1">
                <a:solidFill>
                  <a:srgbClr val="1A1A1A"/>
                </a:solidFill>
                <a:latin typeface="Calibri"/>
              </a:rPr>
              <a:t>prioritise</a:t>
            </a:r>
            <a:r>
              <a:rPr sz="1300" b="0" dirty="0">
                <a:solidFill>
                  <a:srgbClr val="1A1A1A"/>
                </a:solidFill>
                <a:latin typeface="Calibri"/>
              </a:rPr>
              <a:t> logistics investment, set seller onboarding standards, and decide where to spend customer-retention budget 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10789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CORE BUSINESS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107899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Which products, sellers, regions, and delivery patterns should management focus on to reduce service issues and improve revenue and repeat business?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Calibri"/>
              </a:rPr>
              <a:t>•  Identify the operational drivers of late delivery, complaints, and revenue leakage.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  <a:latin typeface="Calibri"/>
              </a:rPr>
              <a:t>•  Quantify their impact and translate findings into 3–5 actionable recommendations the COO can fund.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Engineering — Source to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E8F0F8"/>
                </a:solidFill>
                <a:latin typeface="Calibri"/>
              </a:rPr>
              <a:t>From nine raw </a:t>
            </a:r>
            <a:r>
              <a:rPr sz="1300" b="0" dirty="0" err="1">
                <a:solidFill>
                  <a:srgbClr val="E8F0F8"/>
                </a:solidFill>
                <a:latin typeface="Calibri"/>
              </a:rPr>
              <a:t>Olist</a:t>
            </a:r>
            <a:r>
              <a:rPr sz="1300" b="0" dirty="0">
                <a:solidFill>
                  <a:srgbClr val="E8F0F8"/>
                </a:solidFill>
                <a:latin typeface="Calibri"/>
              </a:rPr>
              <a:t> tables to a</a:t>
            </a:r>
            <a:r>
              <a:rPr lang="en-IN" sz="1300" b="0" dirty="0">
                <a:solidFill>
                  <a:srgbClr val="E8F0F8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E8F0F8"/>
                </a:solidFill>
                <a:latin typeface="Calibri"/>
              </a:rPr>
              <a:t>single 100K-row analysis-ready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840480" cy="1508105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0B1F3A"/>
                </a:solidFill>
                <a:latin typeface="Calibri"/>
              </a:rPr>
              <a:t>•  Dataset: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Olist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Brazilian E-Commerce (Kaggle)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0B1F3A"/>
                </a:solidFill>
                <a:latin typeface="Calibri"/>
              </a:rPr>
              <a:t>•  Volume: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 ~114,092 orders, 9 CSVs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0B1F3A"/>
                </a:solidFill>
                <a:latin typeface="Calibri"/>
              </a:rPr>
              <a:t>•  Shape: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 100K+ rows × 37 cols (post-merge)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0B1F3A"/>
                </a:solidFill>
                <a:latin typeface="Calibri"/>
              </a:rPr>
              <a:t>•  Period: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 Sep 2016 </a:t>
            </a:r>
            <a:r>
              <a:rPr lang="en-US" sz="1200" dirty="0">
                <a:solidFill>
                  <a:srgbClr val="1A1A1A"/>
                </a:solidFill>
                <a:latin typeface="Calibri"/>
              </a:rPr>
              <a:t>to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Aug 2018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0B1F3A"/>
                </a:solidFill>
                <a:latin typeface="Calibri"/>
              </a:rPr>
              <a:t>•  Schema: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 Relational, joined on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order_id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/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customer_id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/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seller_id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/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product_id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3840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PYTHON ETL  (notebooks 01 &amp;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402336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Nulls:</a:t>
            </a:r>
            <a:r>
              <a:rPr sz="1200">
                <a:solidFill>
                  <a:srgbClr val="1A1A1A"/>
                </a:solidFill>
                <a:latin typeface="Calibri"/>
              </a:rPr>
              <a:t>  delivered_date 3.1% retained as NaN; review_score 0.8% excluded; category 0.1% → 'Unknown'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Outliers:</a:t>
            </a:r>
            <a:r>
              <a:rPr sz="1200">
                <a:solidFill>
                  <a:srgbClr val="1A1A1A"/>
                </a:solidFill>
                <a:latin typeface="Calibri"/>
              </a:rPr>
              <a:t>  Negative delivery durations dropped; &gt;$5K orders kept (legit bulk)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Types:</a:t>
            </a:r>
            <a:r>
              <a:rPr sz="1200">
                <a:solidFill>
                  <a:srgbClr val="1A1A1A"/>
                </a:solidFill>
                <a:latin typeface="Calibri"/>
              </a:rPr>
              <a:t>  All timestamps → datetime64; UF state codes standardised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Engineering:</a:t>
            </a:r>
            <a:r>
              <a:rPr sz="1200">
                <a:solidFill>
                  <a:srgbClr val="1A1A1A"/>
                </a:solidFill>
                <a:latin typeface="Calibri"/>
              </a:rPr>
              <a:t>  delivery_days, delivery_delay_days, late_flag, order_month/quarter/year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Merge:</a:t>
            </a:r>
            <a:r>
              <a:rPr sz="1200">
                <a:solidFill>
                  <a:srgbClr val="1A1A1A"/>
                </a:solidFill>
                <a:latin typeface="Calibri"/>
              </a:rPr>
              <a:t>  pd.merge() across 8 tables → olist_cleaned_master.csv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18872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GITHUB &amp; DICTIONARY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508760"/>
            <a:ext cx="3108960" cy="23774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23960" y="1627632"/>
            <a:ext cx="292608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notebooks/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01_extraction.ipynb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02_cleaning.ipynb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03_eda.ipynb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04_statistical_analysis.ipynb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05_final_load_prep.ipynb</a:t>
            </a:r>
          </a:p>
          <a:p>
            <a:pPr algn="l"/>
            <a:endParaRPr sz="1100" b="0">
              <a:solidFill>
                <a:srgbClr val="1A1A1A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data/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raw/   (9 CSVs)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processed/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    cleaned_master.csv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KEY COLUMNS (analysis surface)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1247120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773168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Column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773168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773168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773168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11247120" cy="2743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093208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order_id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093208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join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093208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review_score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093208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satisfaction KPI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85816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order_purchase_timestamp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385816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time trends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385816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payment_value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385816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revenue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60136"/>
            <a:ext cx="11247120" cy="2743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678424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order_delivered_customer_date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678424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delay calc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678424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payment_type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678424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payment behaviour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71032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order_estimated_delivery_date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971032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delivery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971032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product_category_name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971032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category perf.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245352"/>
            <a:ext cx="11247120" cy="2743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26364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order_status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626364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fulfilment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626364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seller_state / customer_state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626364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geographic split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KPI &amp; Metrics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E8F0F8"/>
                </a:solidFill>
                <a:latin typeface="Calibri"/>
              </a:rPr>
              <a:t>Five KPIs that map directly to the COO's decision levers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194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194560" cy="73152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2194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$18.1M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1945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Total Revenue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2016–2018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188720"/>
            <a:ext cx="2194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70632" y="1188720"/>
            <a:ext cx="2194560" cy="73152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0632" y="1353312"/>
            <a:ext cx="2194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103.43K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1920240"/>
            <a:ext cx="21945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Total Orders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delivered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4" y="1188720"/>
            <a:ext cx="2194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4064" y="1188720"/>
            <a:ext cx="2194560" cy="73152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4064" y="1353312"/>
            <a:ext cx="2194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$175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920240"/>
            <a:ext cx="21945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Avg Order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97496" y="1188720"/>
            <a:ext cx="2194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97496" y="1188720"/>
            <a:ext cx="2194560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97496" y="1353312"/>
            <a:ext cx="2194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4.03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1920240"/>
            <a:ext cx="21945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Avg Review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10928" y="1188720"/>
            <a:ext cx="2194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10928" y="1188720"/>
            <a:ext cx="2194560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10928" y="1353312"/>
            <a:ext cx="2194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92.3%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1920240"/>
            <a:ext cx="21945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On-Time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Delivery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51460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DEFINITIONS &amp; FORMULAS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862072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2862072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862072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Formula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2862072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Notebook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11247120" cy="43891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2735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Monthly Revenue Growth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2735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Tracks platform momentum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2735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(Cur − Prev) / Prev ×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2735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05_final_load_prep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7307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Avg Customer Review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37307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Customer satisfaction proxy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37307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mean(review_score)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37307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03_eda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14800"/>
            <a:ext cx="11247120" cy="43891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1879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Late Delivery 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41879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Fulfilment failure exposure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41879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late_flag=1 / delivered × 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41879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04_statistical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6451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Cancellation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46451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Revenue leakage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46451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cancelled / total × 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46451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03_eda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029200"/>
            <a:ext cx="11247120" cy="43891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51023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On-Time Delivery 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51023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Service-quality baseline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51023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on_time / delivered × 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55480" y="510235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04_statistical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5760720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1F6FB5"/>
                </a:solidFill>
                <a:latin typeface="Calibri"/>
              </a:rPr>
              <a:t>WHY THESE FIVE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035040"/>
            <a:ext cx="1078992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1A1A1A"/>
                </a:solidFill>
                <a:latin typeface="Calibri"/>
              </a:rPr>
              <a:t>Each KPI maps to one lever the COO actually controls growth, satisfaction, logistics, and revenue leakage — so every chart on the dashboard answers a question someone in the room can act 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Insights from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E8F0F8"/>
                </a:solidFill>
                <a:latin typeface="Calibri"/>
              </a:rPr>
              <a:t>Six findings stated in business language — supporting charts in 03_eda.ipynb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669280" cy="15544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155448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3949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1.  Revenue grew ~4× year-on-year, but is concentrated.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9496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Q1 2018 hit $3.74M vs Q1 2017's $0.94M. Top-3 categories (bed/bath/table, computers, health/beauty) drive a disproportionate share — disruption in any one materially impacts platform revenue.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669280" cy="15544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91440" cy="155448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3949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2.  São Paulo dominates both sides of the marketplace.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39496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SP customers spend $7.55M; SP sellers earn $11.87M. Any uniform policy hits SP first and hardest — SP must be modelled as a separate operating regime.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5669280" cy="15544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91440" cy="155448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53949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3.  Late deliveries hit satisfaction non-linearly past day 13.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539496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Fast (&lt;8d) reviews cluster above 4.0; slow (&gt;13d) reviews fall below 3.0 with a steeper slope — each extra delay day costs more at higher delays.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880360"/>
            <a:ext cx="5669280" cy="15544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880360"/>
            <a:ext cx="91440" cy="155448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53949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4.  Customers pay in instalments — credit card = 76.8% of revenue, ~3 instalments avg.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74720"/>
            <a:ext cx="539496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Revenue at order time ≠ cash realised; cash-flow planning for sellers depends on instalment lag, not order count.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5669280" cy="15544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91440" cy="155448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53949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5.  Review distribution is bimodal, not normal.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66360"/>
            <a:ext cx="539496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5★ = 56.4%, but 1★ = 12.8% (13,194 orders) — vs only 3,484 at 2★. Dissatisfied customers report extreme dissatisfaction, consistent with delivery failures.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72000"/>
            <a:ext cx="5669280" cy="15544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572000"/>
            <a:ext cx="91440" cy="155448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663440"/>
            <a:ext cx="53949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6.  Q2 is the highest-revenue quarter every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66360"/>
            <a:ext cx="539496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$3.84M in 2017 and comparable in 2018 — operations and seller readiness must be scaled into Q1 not after.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Advanced Analysis — Statistical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E8F0F8"/>
                </a:solidFill>
                <a:latin typeface="Calibri"/>
              </a:rPr>
              <a:t>Going beyond EDA: where is the delay-satisfaction relationship strongest, and who owns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dirty="0">
                <a:solidFill>
                  <a:srgbClr val="1F6FB5"/>
                </a:solidFill>
                <a:latin typeface="Calibri"/>
              </a:rPr>
              <a:t>DELIVERY TIME vs REVIEW SCORE  —  segmented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2402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2194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Fast (&lt;8d):</a:t>
            </a:r>
            <a:r>
              <a:rPr sz="1200">
                <a:solidFill>
                  <a:srgbClr val="1A1A1A"/>
                </a:solidFill>
                <a:latin typeface="Calibri"/>
              </a:rPr>
              <a:t>  review scores cluster above 4.0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Medium (8–13d):</a:t>
            </a:r>
            <a:r>
              <a:rPr sz="1200">
                <a:solidFill>
                  <a:srgbClr val="1A1A1A"/>
                </a:solidFill>
                <a:latin typeface="Calibri"/>
              </a:rPr>
              <a:t>  scores 3.8–4.1, mixed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Slow (&gt;13d):</a:t>
            </a:r>
            <a:r>
              <a:rPr sz="1200">
                <a:solidFill>
                  <a:srgbClr val="1A1A1A"/>
                </a:solidFill>
                <a:latin typeface="Calibri"/>
              </a:rPr>
              <a:t>  scores below 3.0, steepest slope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Finding:</a:t>
            </a:r>
            <a:r>
              <a:rPr sz="1200">
                <a:solidFill>
                  <a:srgbClr val="1A1A1A"/>
                </a:solidFill>
                <a:latin typeface="Calibri"/>
              </a:rPr>
              <a:t>  non-linear — each additional day costs more after the 13-day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430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LATE-ORDER CONCENTRATION  —  by seller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2402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486400" cy="2194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SP:</a:t>
            </a:r>
            <a:r>
              <a:rPr sz="1200">
                <a:solidFill>
                  <a:srgbClr val="1A1A1A"/>
                </a:solidFill>
                <a:latin typeface="Calibri"/>
              </a:rPr>
              <a:t>  6,730 late orders — 12× the next state (RJ 382)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MG / PR:</a:t>
            </a:r>
            <a:r>
              <a:rPr sz="1200">
                <a:solidFill>
                  <a:srgbClr val="1A1A1A"/>
                </a:solidFill>
                <a:latin typeface="Calibri"/>
              </a:rPr>
              <a:t>  481 / 550 late — secondary watch list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ES / BA:</a:t>
            </a:r>
            <a:r>
              <a:rPr sz="1200">
                <a:solidFill>
                  <a:srgbClr val="1A1A1A"/>
                </a:solidFill>
                <a:latin typeface="Calibri"/>
              </a:rPr>
              <a:t>  24 / 34 late — low absolute risk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 Finding:</a:t>
            </a:r>
            <a:r>
              <a:rPr sz="1200">
                <a:solidFill>
                  <a:srgbClr val="1A1A1A"/>
                </a:solidFill>
                <a:latin typeface="Calibri"/>
              </a:rPr>
              <a:t>  SP-specific intervention beats nationwide programmes on cost-of-impact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SEASONAL &amp; CATEGORY EFFECTS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5577840" cy="15544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5303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Late Order Volume by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53035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Jan / Feb / Mar / Nov spikes (1,260 / 554 / 1,812 / 267); mid-year (Jun–Aug) shows lowest late counts. Avg delivery days drift 9.4 → 14.8 across the year — holiday-cycle pressure is visible.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160520"/>
            <a:ext cx="5577840" cy="15544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4251960"/>
            <a:ext cx="5303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Delivery Performance by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526280"/>
            <a:ext cx="53035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Audio, agro-industry, and art categories sit materially above the 12-day platform average — heavier or specialist logistics. Lightweight craft items deliver fastest.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925312"/>
            <a:ext cx="10881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Methods used: pandas + numpy aggregation, scipy/statsmodels for trend lines and segment comparisons, matplotlib/seaborn for visual validation — all in 04_statistical_analysis.ipynb.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Tableau Dashboard —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E8F0F8"/>
                </a:solidFill>
                <a:latin typeface="Calibri"/>
              </a:rPr>
              <a:t>Three pages, six global filters, KPI-driven layout for executive and operational audiences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947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3611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Page 1 — Sales Overview</a:t>
            </a:r>
          </a:p>
        </p:txBody>
      </p:sp>
      <p:pic>
        <p:nvPicPr>
          <p:cNvPr id="8" name="Picture 7" descr="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379476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3840480"/>
            <a:ext cx="37947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Executive view: $18.1M revenue, 103K orders, monthly trend, top categories.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7947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216152"/>
            <a:ext cx="3611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Page 2 — Customers &amp; Geography</a:t>
            </a:r>
          </a:p>
        </p:txBody>
      </p:sp>
      <p:pic>
        <p:nvPicPr>
          <p:cNvPr id="12" name="Picture 11" descr="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79476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7680" y="3840480"/>
            <a:ext cx="37947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86.88K unique customers, SP dominance, state-level revenue, review distribution.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947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16152"/>
            <a:ext cx="3611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Page 3 — Delivery &amp; Operations</a:t>
            </a:r>
          </a:p>
        </p:txBody>
      </p:sp>
      <p:pic>
        <p:nvPicPr>
          <p:cNvPr id="16" name="Picture 15" descr="P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463040"/>
            <a:ext cx="3794760" cy="233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0" y="3840480"/>
            <a:ext cx="37947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92.3% on-time, 8,756 late orders, delay-by-category, review vs delivery scatter.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11247120" cy="5029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102352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GLOBAL FILTERS  (live across all 3 pages):  Year   •   State   •   Order Status   •   Payment Type   •   Product Category   •   Quarter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8813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dirty="0">
                <a:solidFill>
                  <a:schemeClr val="bg2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TABLEAU PUBLIC URL</a:t>
            </a:r>
            <a:endParaRPr sz="1100" b="1" dirty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88136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0" dirty="0">
                <a:solidFill>
                  <a:srgbClr val="FFFFFF"/>
                </a:solidFill>
                <a:latin typeface="Calibri"/>
              </a:rPr>
              <a:t>[</a:t>
            </a:r>
            <a:r>
              <a:rPr lang="en-IN" sz="1200" dirty="0">
                <a:solidFill>
                  <a:srgbClr val="FFFFFF"/>
                </a:solidFill>
              </a:rPr>
              <a:t>https://</a:t>
            </a:r>
            <a:r>
              <a:rPr lang="en-IN" sz="1200" dirty="0" err="1">
                <a:solidFill>
                  <a:srgbClr val="FFFFFF"/>
                </a:solidFill>
              </a:rPr>
              <a:t>public.tableau.com</a:t>
            </a:r>
            <a:r>
              <a:rPr lang="en-IN" sz="1200" dirty="0">
                <a:solidFill>
                  <a:srgbClr val="FFFFFF"/>
                </a:solidFill>
              </a:rPr>
              <a:t>/app/profile/saman.iqbal5804/viz/</a:t>
            </a:r>
            <a:r>
              <a:rPr lang="en-IN" sz="1200" dirty="0" err="1">
                <a:solidFill>
                  <a:srgbClr val="FFFFFF"/>
                </a:solidFill>
              </a:rPr>
              <a:t>BrazillianEDA</a:t>
            </a:r>
            <a:r>
              <a:rPr lang="en-IN" sz="1200" dirty="0">
                <a:solidFill>
                  <a:srgbClr val="FFFFFF"/>
                </a:solidFill>
              </a:rPr>
              <a:t>/</a:t>
            </a:r>
            <a:r>
              <a:rPr lang="en-IN" sz="1200" dirty="0" err="1">
                <a:solidFill>
                  <a:srgbClr val="FFFFFF"/>
                </a:solidFill>
              </a:rPr>
              <a:t>SalesOverview?publish</a:t>
            </a:r>
            <a:r>
              <a:rPr lang="en-IN" sz="1200" dirty="0">
                <a:solidFill>
                  <a:srgbClr val="FFFFFF"/>
                </a:solidFill>
              </a:rPr>
              <a:t>=</a:t>
            </a:r>
            <a:r>
              <a:rPr lang="en-IN" sz="1200" dirty="0" err="1">
                <a:solidFill>
                  <a:srgbClr val="FFFFFF"/>
                </a:solidFill>
              </a:rPr>
              <a:t>yes&amp;showOnboarding</a:t>
            </a:r>
            <a:r>
              <a:rPr lang="en-IN" sz="1200" dirty="0">
                <a:solidFill>
                  <a:srgbClr val="FFFFFF"/>
                </a:solidFill>
              </a:rPr>
              <a:t>=true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E8F0F8"/>
                </a:solidFill>
                <a:latin typeface="Calibri"/>
              </a:rPr>
              <a:t>Five </a:t>
            </a:r>
            <a:r>
              <a:rPr sz="1300" b="0" dirty="0" err="1">
                <a:solidFill>
                  <a:srgbClr val="E8F0F8"/>
                </a:solidFill>
                <a:latin typeface="Calibri"/>
              </a:rPr>
              <a:t>prioritised</a:t>
            </a:r>
            <a:r>
              <a:rPr sz="1300" b="0" dirty="0">
                <a:solidFill>
                  <a:srgbClr val="E8F0F8"/>
                </a:solidFill>
                <a:latin typeface="Calibri"/>
              </a:rPr>
              <a:t> actions each linked to an insight and an </a:t>
            </a:r>
            <a:r>
              <a:rPr sz="1300" b="0" dirty="0" err="1">
                <a:solidFill>
                  <a:srgbClr val="E8F0F8"/>
                </a:solidFill>
                <a:latin typeface="Calibri"/>
              </a:rPr>
              <a:t>esti</a:t>
            </a:r>
            <a:r>
              <a:rPr lang="en-IN" sz="1300" b="0" dirty="0">
                <a:solidFill>
                  <a:srgbClr val="E8F0F8"/>
                </a:solidFill>
                <a:latin typeface="Calibri"/>
              </a:rPr>
              <a:t>ma</a:t>
            </a:r>
            <a:r>
              <a:rPr sz="1300" b="0" dirty="0">
                <a:solidFill>
                  <a:srgbClr val="E8F0F8"/>
                </a:solidFill>
                <a:latin typeface="Calibri"/>
              </a:rPr>
              <a:t>ted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40"/>
            <a:ext cx="10424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SP Seller Compliance Programme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17904"/>
            <a:ext cx="64008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Insight: Insight 5: SP sellers = 76.8% of late orders.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55648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Action: Tiered scorecard; &lt;90% on-time triggers review; &lt;85% × 2 months → listing restrictions.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517904"/>
            <a:ext cx="3840480" cy="5029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536192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1F6FB5"/>
                </a:solidFill>
                <a:latin typeface="Calibri"/>
              </a:rPr>
              <a:t>EXPECTED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737360"/>
            <a:ext cx="3657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Calibri"/>
              </a:rPr>
              <a:t>−673 late orders/period;  +0.1–0.2 review-score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76272"/>
            <a:ext cx="11247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176272"/>
            <a:ext cx="54864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450592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221992"/>
            <a:ext cx="10424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Better Delivery Estimates + Proactive Comms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505456"/>
            <a:ext cx="64008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Insight: Insight 3: ~9-day average overrun on late orders.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743200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Action: Re-fit estimate algorithm by state×category; auto-notify customers at 80% of window.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505456"/>
            <a:ext cx="3840480" cy="5029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2523744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1F6FB5"/>
                </a:solidFill>
                <a:latin typeface="Calibri"/>
              </a:rP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724912"/>
            <a:ext cx="3657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Calibri"/>
              </a:rPr>
              <a:t>15–20% reduction in expectation-driven 1-star reviews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63824"/>
            <a:ext cx="11247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163824"/>
            <a:ext cx="54864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438144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209544"/>
            <a:ext cx="10424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Top-3 Category Logistics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493008"/>
            <a:ext cx="64008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Insight: Insight 1: top-3 categories drive disproportionate revenue &amp; delays.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730752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Action: Dedicated carrier SLAs + regional inventory pre-positioning for those categories.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3493008"/>
            <a:ext cx="3840480" cy="5029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0" y="3511296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1F6FB5"/>
                </a:solidFill>
                <a:latin typeface="Calibri"/>
              </a:rPr>
              <a:t>EXPECTED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712464"/>
            <a:ext cx="3657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Calibri"/>
              </a:rPr>
              <a:t>$200K–$400K at-risk revenue protected per year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51376"/>
            <a:ext cx="11247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4151376"/>
            <a:ext cx="54864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425696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197096"/>
            <a:ext cx="10424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1-Star Customer Recovery Campaign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4480560"/>
            <a:ext cx="64008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Insight: Insight 5b: 13,194 1-star reviewers — high churn risk.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718304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Action: 48-hour personalised recovery: apology + voucher + expedited resolution; track 90-day repurchase.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4480560"/>
            <a:ext cx="3840480" cy="5029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0" y="4498848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1F6FB5"/>
                </a:solidFill>
                <a:latin typeface="Calibri"/>
              </a:rPr>
              <a:t>EXPECTED IMPACT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700016"/>
            <a:ext cx="3657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Calibri"/>
              </a:rPr>
              <a:t>~$346K incremental revenue (15% recovery × $175 AOV)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138928"/>
            <a:ext cx="11247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5138928"/>
            <a:ext cx="54864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5413248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5184648"/>
            <a:ext cx="104241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Pre-Q2 Demand Scaling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468112"/>
            <a:ext cx="64008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Insight: Insight 6: Q2 is peak, but Jan–Mar already spike late orders.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5705856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Calibri"/>
              </a:rPr>
              <a:t>Action: Inventory readiness check 6 weeks pre-Q2; pre-negotiated carrier capacity for Jan–Mar.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5468112"/>
            <a:ext cx="3840480" cy="5029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5486400"/>
            <a:ext cx="3657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1F6FB5"/>
                </a:solidFill>
                <a:latin typeface="Calibri"/>
              </a:rPr>
              <a:t>EXPECTED IMPACT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5687568"/>
            <a:ext cx="3657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Calibri"/>
              </a:rPr>
              <a:t>≈350 fewer late orders per Q1–Q2;  on-time rate → 93.7%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Impact &amp; Value — The 'So What?'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E8F0F8"/>
                </a:solidFill>
                <a:latin typeface="Calibri"/>
              </a:rPr>
              <a:t>What the platform stands to gain  and what it loses by waiting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AGGREGATE IMPACT  (low–high range, conservative assumptions)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743200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$546K+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Combined revenue at risk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protected or recovered annually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743200" cy="9144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178308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≈1,000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7744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Fewer service failures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per Q1–Q2 cycle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743200" cy="91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78308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+0.1–0.2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Points lift in average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review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1554480"/>
            <a:ext cx="274320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178308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−15–20%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37744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Reduction in expectation-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driven 1-star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546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WHY ACT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11247120" cy="147732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dirty="0">
                <a:solidFill>
                  <a:srgbClr val="0B1F3A"/>
                </a:solidFill>
                <a:latin typeface="Calibri"/>
              </a:rPr>
              <a:t>•  Compounding churn:</a:t>
            </a:r>
            <a:r>
              <a:rPr sz="1250" dirty="0">
                <a:solidFill>
                  <a:srgbClr val="1A1A1A"/>
                </a:solidFill>
                <a:latin typeface="Calibri"/>
              </a:rPr>
              <a:t>  1-star reviewers who don't return cost ~$175 AOV × repeat-order multiplier each  and Q1 alone has ~3,000 of them.</a:t>
            </a:r>
          </a:p>
          <a:p>
            <a:pPr algn="l">
              <a:spcAft>
                <a:spcPts val="600"/>
              </a:spcAft>
            </a:pPr>
            <a:r>
              <a:rPr sz="1250" b="1" dirty="0">
                <a:solidFill>
                  <a:srgbClr val="0B1F3A"/>
                </a:solidFill>
                <a:latin typeface="Calibri"/>
              </a:rPr>
              <a:t>•  Concentration risk:</a:t>
            </a:r>
            <a:r>
              <a:rPr sz="1250" dirty="0">
                <a:solidFill>
                  <a:srgbClr val="1A1A1A"/>
                </a:solidFill>
                <a:latin typeface="Calibri"/>
              </a:rPr>
              <a:t>  76.8% of late orders sit with SP sellers; without intervention, every quarter's growth re-amplifies the same bottleneck.</a:t>
            </a:r>
          </a:p>
          <a:p>
            <a:pPr algn="l">
              <a:spcAft>
                <a:spcPts val="600"/>
              </a:spcAft>
            </a:pPr>
            <a:r>
              <a:rPr sz="1250" b="1" dirty="0">
                <a:solidFill>
                  <a:srgbClr val="0B1F3A"/>
                </a:solidFill>
                <a:latin typeface="Calibri"/>
              </a:rPr>
              <a:t>•  Cheap wins are real:</a:t>
            </a:r>
            <a:r>
              <a:rPr sz="1250" dirty="0">
                <a:solidFill>
                  <a:srgbClr val="1A1A1A"/>
                </a:solidFill>
                <a:latin typeface="Calibri"/>
              </a:rPr>
              <a:t>  Recommendation 2 (estimate accuracy) requires zero logistics investment only an algorithm and notification fix  yet captures 15–20% of expectation-driven complaints.</a:t>
            </a:r>
          </a:p>
          <a:p>
            <a:pPr algn="l">
              <a:spcAft>
                <a:spcPts val="600"/>
              </a:spcAft>
            </a:pPr>
            <a:r>
              <a:rPr sz="1250" b="1" dirty="0">
                <a:solidFill>
                  <a:srgbClr val="0B1F3A"/>
                </a:solidFill>
                <a:latin typeface="Calibri"/>
              </a:rPr>
              <a:t>•  Cost of inaction:</a:t>
            </a:r>
            <a:r>
              <a:rPr sz="1250" dirty="0">
                <a:solidFill>
                  <a:srgbClr val="1A1A1A"/>
                </a:solidFill>
                <a:latin typeface="Calibri"/>
              </a:rPr>
              <a:t>  Even a 0.3-point review-score drop typically halves repeat-purchase probability; on $18.1M base, the CLV exposure is in the multi-$M range over 2 years.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8F0F8"/>
                </a:solidFill>
                <a:latin typeface="Calibri"/>
              </a:rPr>
              <a:t>Numbers are approximate; logic is documented in §11–12 of the project report.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dirty="0">
                <a:solidFill>
                  <a:srgbClr val="E8F0F8"/>
                </a:solidFill>
                <a:latin typeface="Calibri"/>
              </a:rPr>
              <a:t>What we couldn't conclude  and what should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45720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94960" cy="2600712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dirty="0">
                <a:solidFill>
                  <a:srgbClr val="0B1F3A"/>
                </a:solidFill>
                <a:latin typeface="Calibri"/>
              </a:rPr>
              <a:t>•  Correlation, not causation: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 delivery vs review is observational; product quality, packaging, and seller comms are not controlled for.</a:t>
            </a:r>
          </a:p>
          <a:p>
            <a:pPr algn="l">
              <a:spcAft>
                <a:spcPts val="600"/>
              </a:spcAft>
            </a:pPr>
            <a:r>
              <a:rPr sz="1150" b="1" dirty="0">
                <a:solidFill>
                  <a:srgbClr val="0B1F3A"/>
                </a:solidFill>
                <a:latin typeface="Calibri"/>
              </a:rPr>
              <a:t>•  Repeat-purchase weakness: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 </a:t>
            </a:r>
            <a:r>
              <a:rPr sz="1150" dirty="0" err="1">
                <a:solidFill>
                  <a:srgbClr val="1A1A1A"/>
                </a:solidFill>
                <a:latin typeface="Calibri"/>
              </a:rPr>
              <a:t>customer_id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is per-order, not persistent  robust repeat-rate computation requires deduplication via </a:t>
            </a:r>
            <a:r>
              <a:rPr sz="1150" dirty="0" err="1">
                <a:solidFill>
                  <a:srgbClr val="1A1A1A"/>
                </a:solidFill>
                <a:latin typeface="Calibri"/>
              </a:rPr>
              <a:t>customer_unique_id</a:t>
            </a:r>
            <a:r>
              <a:rPr sz="115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150" b="1" dirty="0">
                <a:solidFill>
                  <a:srgbClr val="0B1F3A"/>
                </a:solidFill>
                <a:latin typeface="Calibri"/>
              </a:rPr>
              <a:t>•  Seller </a:t>
            </a:r>
            <a:r>
              <a:rPr sz="1150" b="1" dirty="0" err="1">
                <a:solidFill>
                  <a:srgbClr val="0B1F3A"/>
                </a:solidFill>
                <a:latin typeface="Calibri"/>
              </a:rPr>
              <a:t>anonymisation</a:t>
            </a:r>
            <a:r>
              <a:rPr sz="1150" b="1" dirty="0">
                <a:solidFill>
                  <a:srgbClr val="0B1F3A"/>
                </a:solidFill>
                <a:latin typeface="Calibri"/>
              </a:rPr>
              <a:t>: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 no qualitative seller data (size, age, reputation) — we cannot diagnose why a seller underperforms.</a:t>
            </a:r>
          </a:p>
          <a:p>
            <a:pPr algn="l">
              <a:spcAft>
                <a:spcPts val="600"/>
              </a:spcAft>
            </a:pPr>
            <a:r>
              <a:rPr sz="1150" b="1" dirty="0">
                <a:solidFill>
                  <a:srgbClr val="0B1F3A"/>
                </a:solidFill>
                <a:latin typeface="Calibri"/>
              </a:rPr>
              <a:t>•  Time truncation: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 data ends Aug 2018 </a:t>
            </a:r>
            <a:r>
              <a:rPr lang="en-US" sz="1150" dirty="0">
                <a:solidFill>
                  <a:srgbClr val="1A1A1A"/>
                </a:solidFill>
                <a:latin typeface="Calibri"/>
              </a:rPr>
              <a:t>-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no full-year 2018 view, no late-2018 holiday peak.</a:t>
            </a:r>
          </a:p>
          <a:p>
            <a:pPr algn="l">
              <a:spcAft>
                <a:spcPts val="600"/>
              </a:spcAft>
            </a:pPr>
            <a:r>
              <a:rPr sz="1150" b="1" dirty="0">
                <a:solidFill>
                  <a:srgbClr val="0B1F3A"/>
                </a:solidFill>
                <a:latin typeface="Calibri"/>
              </a:rPr>
              <a:t>•  Order-level granularity: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 no product-level margin or return rate unit economics out of scope.</a:t>
            </a:r>
          </a:p>
          <a:p>
            <a:pPr algn="l">
              <a:spcAft>
                <a:spcPts val="600"/>
              </a:spcAft>
            </a:pPr>
            <a:r>
              <a:rPr sz="1150" b="1" dirty="0">
                <a:solidFill>
                  <a:srgbClr val="0B1F3A"/>
                </a:solidFill>
                <a:latin typeface="Calibri"/>
              </a:rPr>
              <a:t>•  Single platform: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 findings apply to one marketplace; </a:t>
            </a:r>
            <a:r>
              <a:rPr sz="1150" dirty="0" err="1">
                <a:solidFill>
                  <a:srgbClr val="1A1A1A"/>
                </a:solidFill>
                <a:latin typeface="Calibri"/>
              </a:rPr>
              <a:t>generalisation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to Brazilian e-commerce broadly is not warranted.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NEXT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486400" cy="45720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539496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•  Predictive late-delivery model:</a:t>
            </a:r>
            <a:r>
              <a:rPr sz="1150">
                <a:solidFill>
                  <a:srgbClr val="1A1A1A"/>
                </a:solidFill>
                <a:latin typeface="Calibri"/>
              </a:rPr>
              <a:t>  logistic regression / GBM on state × category × payment × timing for risk scoring at order placement.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•  Seller segmentation:</a:t>
            </a:r>
            <a:r>
              <a:rPr sz="1150">
                <a:solidFill>
                  <a:srgbClr val="1A1A1A"/>
                </a:solidFill>
                <a:latin typeface="Calibri"/>
              </a:rPr>
              <a:t>  K-means on (on-time rate, review, revenue, volume) → tiered support programmes.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•  Review-text NLP:</a:t>
            </a:r>
            <a:r>
              <a:rPr sz="1150">
                <a:solidFill>
                  <a:srgbClr val="1A1A1A"/>
                </a:solidFill>
                <a:latin typeface="Calibri"/>
              </a:rPr>
              <a:t>  sentiment + topic analysis on review comments to surface specific complaint drivers.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•  Real-time dashboard:</a:t>
            </a:r>
            <a:r>
              <a:rPr sz="1150">
                <a:solidFill>
                  <a:srgbClr val="1A1A1A"/>
                </a:solidFill>
                <a:latin typeface="Calibri"/>
              </a:rPr>
              <a:t>  API-connected pipeline → operational alerting on emerging delay spikes.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•  Customer Lifetime Value:</a:t>
            </a:r>
            <a:r>
              <a:rPr sz="1150">
                <a:solidFill>
                  <a:srgbClr val="1A1A1A"/>
                </a:solidFill>
                <a:latin typeface="Calibri"/>
              </a:rPr>
              <a:t>  link first-delivery experience to long-term repeat behaviour; quantify CLV loss per late delivery.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Team &amp;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E8F0F8"/>
                </a:solidFill>
                <a:latin typeface="Calibri"/>
              </a:rPr>
              <a:t>Visible commits, owned phases, declared in the report's contribution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07592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075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3075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7256" y="13075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984" y="13075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2" y="13075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Tableau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3075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88168" y="13075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11247120" cy="39319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19072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Saumya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171907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dirty="0">
                <a:solidFill>
                  <a:srgbClr val="2E7D32"/>
                </a:solidFill>
                <a:latin typeface="Calibri"/>
              </a:rPr>
              <a:t>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171907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dirty="0">
                <a:solidFill>
                  <a:srgbClr val="556677"/>
                </a:solidFill>
              </a:rPr>
              <a:t>—</a:t>
            </a:r>
            <a:endParaRPr lang="en-IN" sz="1100" b="1" dirty="0">
              <a:solidFill>
                <a:srgbClr val="2E7D3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7256" y="171907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1F6FB5"/>
                </a:solidFill>
                <a:latin typeface="Calibri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171907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dirty="0">
                <a:solidFill>
                  <a:srgbClr val="1F6FB5"/>
                </a:solidFill>
              </a:rPr>
              <a:t>Support</a:t>
            </a:r>
            <a:endParaRPr sz="11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82712" y="171907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dirty="0">
                <a:solidFill>
                  <a:srgbClr val="556677"/>
                </a:solidFill>
              </a:rPr>
              <a:t>—</a:t>
            </a:r>
            <a:endParaRPr sz="1100" b="0" dirty="0">
              <a:solidFill>
                <a:srgbClr val="1F6FB5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0" y="171907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dirty="0">
                <a:solidFill>
                  <a:srgbClr val="556677"/>
                </a:solidFill>
              </a:rPr>
              <a:t>—</a:t>
            </a:r>
            <a:endParaRPr sz="1100" b="0" dirty="0">
              <a:solidFill>
                <a:srgbClr val="1F6FB5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488168" y="171907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b="1" dirty="0">
                <a:solidFill>
                  <a:srgbClr val="2E7D32"/>
                </a:solidFill>
              </a:rPr>
              <a:t>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130552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Saman Iqbal Ansari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13055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1F6FB5"/>
                </a:solidFill>
                <a:latin typeface="Calibri"/>
              </a:rPr>
              <a:t>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213055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7256" y="213055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4" y="213055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b="1" dirty="0">
                <a:solidFill>
                  <a:srgbClr val="2E7D32"/>
                </a:solidFill>
              </a:rPr>
              <a:t>Owner</a:t>
            </a:r>
            <a:endParaRPr sz="1100" b="0" dirty="0">
              <a:solidFill>
                <a:srgbClr val="1F6FB5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82712" y="213055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dirty="0">
                <a:solidFill>
                  <a:srgbClr val="2E7D32"/>
                </a:solidFill>
                <a:latin typeface="Calibri"/>
              </a:rPr>
              <a:t>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13055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88168" y="213055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468880"/>
            <a:ext cx="11247120" cy="39319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2542032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Arina Ali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254203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dirty="0">
                <a:solidFill>
                  <a:srgbClr val="1F6FB5"/>
                </a:solidFill>
                <a:latin typeface="Calibri"/>
              </a:rPr>
              <a:t>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254203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dirty="0">
                <a:solidFill>
                  <a:srgbClr val="556677"/>
                </a:solidFill>
              </a:rPr>
              <a:t>—</a:t>
            </a:r>
            <a:endParaRPr sz="11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77256" y="254203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254203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254203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dirty="0">
                <a:solidFill>
                  <a:srgbClr val="556677"/>
                </a:solidFill>
              </a:rPr>
              <a:t>—</a:t>
            </a:r>
            <a:endParaRPr sz="1100" b="0" dirty="0">
              <a:solidFill>
                <a:srgbClr val="1F6FB5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35440" y="254203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Owner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8" y="254203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dirty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2953512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Yash Kumar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295351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4528" y="295351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7256" y="295351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4" y="295351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dirty="0">
                <a:solidFill>
                  <a:srgbClr val="1F6FB5"/>
                </a:solidFill>
              </a:rPr>
              <a:t>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82712" y="295351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dirty="0">
                <a:solidFill>
                  <a:srgbClr val="1F6FB5"/>
                </a:solidFill>
              </a:rPr>
              <a:t>Support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295351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8168" y="295351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291840"/>
            <a:ext cx="11247120" cy="39319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3364992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Ayush Sahu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71800" y="33649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24528" y="33649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77256" y="33649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9984" y="33649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82712" y="33649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336499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88168" y="3364992"/>
            <a:ext cx="1252728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dirty="0">
                <a:solidFill>
                  <a:srgbClr val="556677"/>
                </a:solidFill>
              </a:rPr>
              <a:t>—</a:t>
            </a:r>
          </a:p>
          <a:p>
            <a:pPr algn="ctr"/>
            <a:endParaRPr sz="11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02920" y="3776472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Prakhar Srivastava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71800" y="377647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24528" y="377647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77256" y="3776472"/>
            <a:ext cx="125272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IN" sz="1100" dirty="0">
                <a:solidFill>
                  <a:srgbClr val="556677"/>
                </a:solidFill>
              </a:rPr>
              <a:t>—</a:t>
            </a:r>
            <a:endParaRPr sz="11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729984" y="377647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dirty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82712" y="377647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377647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88168" y="3776472"/>
            <a:ext cx="12527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dirty="0">
                <a:solidFill>
                  <a:srgbClr val="556677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297680"/>
            <a:ext cx="5486400" cy="20116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0080" y="4389120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PROJECT METADATA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709160"/>
            <a:ext cx="5212080" cy="11449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1A1A1A"/>
                </a:solidFill>
                <a:latin typeface="Consolas"/>
              </a:rPr>
              <a:t>Team Lead:    Saumya Kumar</a:t>
            </a:r>
          </a:p>
          <a:p>
            <a:pPr algn="l"/>
            <a:r>
              <a:rPr sz="1200" b="0" dirty="0">
                <a:solidFill>
                  <a:srgbClr val="1A1A1A"/>
                </a:solidFill>
                <a:latin typeface="Consolas"/>
              </a:rPr>
              <a:t>Mentor:       Satyaki Das</a:t>
            </a:r>
          </a:p>
          <a:p>
            <a:pPr algn="l"/>
            <a:r>
              <a:rPr sz="1200" b="0" dirty="0">
                <a:solidFill>
                  <a:srgbClr val="1A1A1A"/>
                </a:solidFill>
                <a:latin typeface="Consolas"/>
              </a:rPr>
              <a:t>Institute:    Newton School of Technology</a:t>
            </a:r>
          </a:p>
          <a:p>
            <a:pPr algn="l"/>
            <a:r>
              <a:rPr sz="1200" b="0" dirty="0">
                <a:solidFill>
                  <a:srgbClr val="1A1A1A"/>
                </a:solidFill>
                <a:latin typeface="Consolas"/>
              </a:rPr>
              <a:t>Section:      B    </a:t>
            </a:r>
            <a:br>
              <a:rPr lang="en-US" sz="1200" b="0" dirty="0">
                <a:solidFill>
                  <a:srgbClr val="1A1A1A"/>
                </a:solidFill>
                <a:latin typeface="Consolas"/>
              </a:rPr>
            </a:br>
            <a:r>
              <a:rPr sz="1200" b="0" dirty="0">
                <a:solidFill>
                  <a:srgbClr val="1A1A1A"/>
                </a:solidFill>
                <a:latin typeface="Consolas"/>
              </a:rPr>
              <a:t>Group:  </a:t>
            </a:r>
            <a:r>
              <a:rPr lang="en-US" sz="1200" b="0" dirty="0">
                <a:solidFill>
                  <a:srgbClr val="1A1A1A"/>
                </a:solidFill>
                <a:latin typeface="Consolas"/>
              </a:rPr>
              <a:t>      </a:t>
            </a:r>
            <a:r>
              <a:rPr sz="1200" b="0" dirty="0">
                <a:solidFill>
                  <a:srgbClr val="1A1A1A"/>
                </a:solidFill>
                <a:latin typeface="Consolas"/>
              </a:rPr>
              <a:t>G-7</a:t>
            </a:r>
          </a:p>
          <a:p>
            <a:pPr algn="l"/>
            <a:r>
              <a:rPr sz="1200" b="0" dirty="0">
                <a:solidFill>
                  <a:srgbClr val="1A1A1A"/>
                </a:solidFill>
                <a:latin typeface="Consolas"/>
              </a:rPr>
              <a:t>Date:       </a:t>
            </a:r>
            <a:r>
              <a:rPr lang="en-US" sz="1200" b="0" dirty="0">
                <a:solidFill>
                  <a:srgbClr val="1A1A1A"/>
                </a:solidFill>
                <a:latin typeface="Consolas"/>
              </a:rPr>
              <a:t>  </a:t>
            </a:r>
            <a:r>
              <a:rPr sz="1200" b="0" dirty="0">
                <a:solidFill>
                  <a:srgbClr val="1A1A1A"/>
                </a:solidFill>
                <a:latin typeface="Consolas"/>
              </a:rPr>
              <a:t>April 2026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4297680"/>
            <a:ext cx="5486400" cy="2011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0800" y="4389120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EVIDENCE TRAIL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4663440"/>
            <a:ext cx="5212080" cy="1554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GitHub Insights: commit history per member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Pull-request log: ownership of each phase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Contribution matrix declared in §B of report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•  All notebooks committed in .ipynb format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15309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576072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>
                <a:solidFill>
                  <a:srgbClr val="1F6FB5"/>
                </a:solidFill>
                <a:latin typeface="Calibri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10332720" cy="36576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Calibri"/>
              </a:rPr>
              <a:t>ONE-LINE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515600" cy="96026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Calibri"/>
              </a:rPr>
              <a:t>The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Olist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platform's growth story is real  but operational reliability, concentrated in São Paulo sellers and a handful of categories, is the single highest-leverage decision surface for the COO over the next 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8F0F8"/>
                </a:solidFill>
                <a:latin typeface="Calibri"/>
              </a:rPr>
              <a:t>GitHub:  github.com/oksaumya/SectionB_G7_BrazilianE-Commerce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5156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200" b="0" dirty="0">
                <a:solidFill>
                  <a:srgbClr val="E8F0F8"/>
                </a:solidFill>
                <a:latin typeface="Calibri"/>
              </a:rPr>
              <a:t>Tableau Public:  </a:t>
            </a:r>
            <a:r>
              <a:rPr lang="en-IN" sz="1200" dirty="0">
                <a:solidFill>
                  <a:srgbClr val="E8F0F8"/>
                </a:solidFill>
              </a:rPr>
              <a:t>https://</a:t>
            </a:r>
            <a:r>
              <a:rPr lang="en-IN" sz="1200" dirty="0" err="1">
                <a:solidFill>
                  <a:srgbClr val="E8F0F8"/>
                </a:solidFill>
              </a:rPr>
              <a:t>public.tableau.com</a:t>
            </a:r>
            <a:r>
              <a:rPr lang="en-IN" sz="1200" dirty="0">
                <a:solidFill>
                  <a:srgbClr val="E8F0F8"/>
                </a:solidFill>
              </a:rPr>
              <a:t>/app/profile/saman.iqbal5804/viz/</a:t>
            </a:r>
            <a:r>
              <a:rPr lang="en-IN" sz="1200" dirty="0" err="1">
                <a:solidFill>
                  <a:srgbClr val="E8F0F8"/>
                </a:solidFill>
              </a:rPr>
              <a:t>BrazillianEDA</a:t>
            </a:r>
            <a:r>
              <a:rPr lang="en-IN" sz="1200" dirty="0">
                <a:solidFill>
                  <a:srgbClr val="E8F0F8"/>
                </a:solidFill>
              </a:rPr>
              <a:t>/</a:t>
            </a:r>
            <a:r>
              <a:rPr lang="en-IN" sz="1200" dirty="0" err="1">
                <a:solidFill>
                  <a:srgbClr val="E8F0F8"/>
                </a:solidFill>
              </a:rPr>
              <a:t>SalesOverview?publish</a:t>
            </a:r>
            <a:r>
              <a:rPr lang="en-IN" sz="1200" dirty="0">
                <a:solidFill>
                  <a:srgbClr val="E8F0F8"/>
                </a:solidFill>
              </a:rPr>
              <a:t>=</a:t>
            </a:r>
            <a:r>
              <a:rPr lang="en-IN" sz="1200" dirty="0" err="1">
                <a:solidFill>
                  <a:srgbClr val="E8F0F8"/>
                </a:solidFill>
              </a:rPr>
              <a:t>yes&amp;showOnboarding</a:t>
            </a:r>
            <a:r>
              <a:rPr lang="en-IN" sz="1200" dirty="0">
                <a:solidFill>
                  <a:srgbClr val="E8F0F8"/>
                </a:solidFill>
              </a:rPr>
              <a:t>=true</a:t>
            </a:r>
            <a:endParaRPr sz="1200" b="0" dirty="0">
              <a:solidFill>
                <a:srgbClr val="E8F0F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2380</Words>
  <Application>Microsoft Macintosh PowerPoint</Application>
  <PresentationFormat>Widescreen</PresentationFormat>
  <Paragraphs>318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Saumya Kumar</cp:lastModifiedBy>
  <cp:revision>2</cp:revision>
  <dcterms:created xsi:type="dcterms:W3CDTF">2013-01-27T09:14:16Z</dcterms:created>
  <dcterms:modified xsi:type="dcterms:W3CDTF">2026-04-29T20:03:32Z</dcterms:modified>
  <cp:category/>
</cp:coreProperties>
</file>